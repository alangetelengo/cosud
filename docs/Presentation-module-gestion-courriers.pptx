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A055"/>
                </a:solidFill>
                <a:latin typeface="Calibri"/>
              </a:rPr>
              <a:t>ACSI — Direction Générale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 err="1">
                <a:solidFill>
                  <a:srgbClr val="FFFFFF"/>
                </a:solidFill>
                <a:latin typeface="Calibri"/>
              </a:rPr>
              <a:t>Digitalisation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de la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gestion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des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courriers</a:t>
            </a:r>
            <a:endParaRPr sz="3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dirty="0" err="1">
                <a:solidFill>
                  <a:srgbClr val="CBD5E1"/>
                </a:solidFill>
                <a:latin typeface="Calibri"/>
              </a:rPr>
              <a:t>Projet</a:t>
            </a:r>
            <a:r>
              <a:rPr sz="2200" b="0" dirty="0">
                <a:solidFill>
                  <a:srgbClr val="CBD5E1"/>
                </a:solidFill>
                <a:latin typeface="Calibri"/>
              </a:rPr>
              <a:t> GED — Module </a:t>
            </a:r>
            <a:r>
              <a:rPr sz="2200" b="0" dirty="0" err="1">
                <a:solidFill>
                  <a:srgbClr val="CBD5E1"/>
                </a:solidFill>
                <a:latin typeface="Calibri"/>
              </a:rPr>
              <a:t>Gestion</a:t>
            </a:r>
            <a:r>
              <a:rPr sz="2200" b="0" dirty="0">
                <a:solidFill>
                  <a:srgbClr val="CBD5E1"/>
                </a:solidFill>
                <a:latin typeface="Calibri"/>
              </a:rPr>
              <a:t> des </a:t>
            </a:r>
            <a:r>
              <a:rPr sz="2200" b="0" dirty="0" err="1">
                <a:solidFill>
                  <a:srgbClr val="CBD5E1"/>
                </a:solidFill>
                <a:latin typeface="Calibri"/>
              </a:rPr>
              <a:t>courriers</a:t>
            </a:r>
            <a:endParaRPr sz="2200" b="0" dirty="0">
              <a:solidFill>
                <a:srgbClr val="CBD5E1"/>
              </a:solidFill>
              <a:latin typeface="Calibri"/>
            </a:endParaRPr>
          </a:p>
          <a:p>
            <a:r>
              <a:rPr sz="1600" b="0" dirty="0" err="1">
                <a:solidFill>
                  <a:srgbClr val="94A3B8"/>
                </a:solidFill>
                <a:latin typeface="Calibri"/>
              </a:rPr>
              <a:t>Présentation</a:t>
            </a:r>
            <a:r>
              <a:rPr sz="1600" b="0" dirty="0">
                <a:solidFill>
                  <a:srgbClr val="94A3B8"/>
                </a:solidFill>
                <a:latin typeface="Calibri"/>
              </a:rPr>
              <a:t> à la </a:t>
            </a:r>
            <a:r>
              <a:rPr sz="1600" b="0" dirty="0" smtClean="0">
                <a:solidFill>
                  <a:srgbClr val="94A3B8"/>
                </a:solidFill>
                <a:latin typeface="Calibri"/>
              </a:rPr>
              <a:t>Direction</a:t>
            </a: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> générale</a:t>
            </a:r>
            <a:r>
              <a:rPr sz="1600" b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94A3B8"/>
                </a:solidFill>
                <a:latin typeface="Calibri"/>
              </a:rPr>
              <a:t>— </a:t>
            </a:r>
            <a:r>
              <a:rPr sz="1600" b="0" dirty="0" err="1">
                <a:solidFill>
                  <a:srgbClr val="94A3B8"/>
                </a:solidFill>
                <a:latin typeface="Calibri"/>
              </a:rPr>
              <a:t>Contexte</a:t>
            </a:r>
            <a:r>
              <a:rPr sz="1600" b="0" dirty="0">
                <a:solidFill>
                  <a:srgbClr val="94A3B8"/>
                </a:solidFill>
                <a:latin typeface="Calibri"/>
              </a:rPr>
              <a:t>, solution et </a:t>
            </a:r>
            <a:r>
              <a:rPr sz="1600" b="0" dirty="0" err="1" smtClean="0">
                <a:solidFill>
                  <a:srgbClr val="94A3B8"/>
                </a:solidFill>
                <a:latin typeface="Calibri"/>
              </a:rPr>
              <a:t>bénéfices</a:t>
            </a: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/>
            </a:r>
            <a:br>
              <a:rPr lang="fr-FR" sz="1600" b="0" dirty="0" smtClean="0">
                <a:solidFill>
                  <a:srgbClr val="94A3B8"/>
                </a:solidFill>
                <a:latin typeface="Calibri"/>
              </a:rPr>
            </a:br>
            <a:r>
              <a:rPr lang="fr-FR" sz="1600" b="0" dirty="0" smtClean="0">
                <a:solidFill>
                  <a:srgbClr val="94A3B8"/>
                </a:solidFill>
                <a:latin typeface="Calibri"/>
              </a:rPr>
              <a:t>                                                                                                                                           Présentateur: </a:t>
            </a:r>
            <a:r>
              <a:rPr lang="fr-FR" sz="1600" b="1" dirty="0" err="1" smtClean="0">
                <a:solidFill>
                  <a:srgbClr val="94A3B8"/>
                </a:solidFill>
                <a:latin typeface="Calibri"/>
              </a:rPr>
              <a:t>Alange</a:t>
            </a:r>
            <a:r>
              <a:rPr lang="fr-FR" sz="1600" b="1" dirty="0" smtClean="0">
                <a:solidFill>
                  <a:srgbClr val="94A3B8"/>
                </a:solidFill>
                <a:latin typeface="Calibri"/>
              </a:rPr>
              <a:t> ELENGA TELENGO OPALA</a:t>
            </a:r>
            <a:endParaRPr sz="1600" b="1" dirty="0" err="1" smtClean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1. Pourquoi ce projet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Le </a:t>
            </a:r>
            <a:r>
              <a:rPr dirty="0" err="1"/>
              <a:t>secrétariat</a:t>
            </a:r>
            <a:r>
              <a:rPr dirty="0"/>
              <a:t> de la </a:t>
            </a:r>
            <a:r>
              <a:rPr dirty="0" smtClean="0"/>
              <a:t>D</a:t>
            </a:r>
            <a:r>
              <a:rPr lang="fr-FR" dirty="0" err="1" smtClean="0"/>
              <a:t>irection</a:t>
            </a:r>
            <a:r>
              <a:rPr lang="fr-FR" dirty="0" smtClean="0"/>
              <a:t> </a:t>
            </a:r>
            <a:r>
              <a:rPr dirty="0" smtClean="0"/>
              <a:t>G</a:t>
            </a:r>
            <a:r>
              <a:rPr lang="fr-FR" dirty="0" err="1" smtClean="0"/>
              <a:t>énérale</a:t>
            </a:r>
            <a:r>
              <a:rPr lang="fr-FR" dirty="0" smtClean="0"/>
              <a:t> </a:t>
            </a:r>
            <a:r>
              <a:rPr dirty="0" err="1" smtClean="0"/>
              <a:t>tient</a:t>
            </a:r>
            <a:r>
              <a:rPr dirty="0" smtClean="0"/>
              <a:t> </a:t>
            </a:r>
            <a:r>
              <a:rPr dirty="0" err="1"/>
              <a:t>aujourd'hui</a:t>
            </a:r>
            <a:r>
              <a:rPr dirty="0"/>
              <a:t> des </a:t>
            </a:r>
            <a:r>
              <a:rPr dirty="0" err="1"/>
              <a:t>registres</a:t>
            </a:r>
            <a:r>
              <a:rPr dirty="0"/>
              <a:t> </a:t>
            </a:r>
            <a:r>
              <a:rPr dirty="0" err="1"/>
              <a:t>papier</a:t>
            </a:r>
            <a:r>
              <a:rPr dirty="0"/>
              <a:t> </a:t>
            </a:r>
            <a:r>
              <a:rPr dirty="0" err="1"/>
              <a:t>Arrivée</a:t>
            </a:r>
            <a:r>
              <a:rPr dirty="0"/>
              <a:t> / </a:t>
            </a:r>
            <a:r>
              <a:rPr dirty="0" err="1"/>
              <a:t>Départ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Les circuits de </a:t>
            </a:r>
            <a:r>
              <a:rPr dirty="0" err="1"/>
              <a:t>traitement</a:t>
            </a:r>
            <a:r>
              <a:rPr dirty="0"/>
              <a:t> (factures, </a:t>
            </a:r>
            <a:r>
              <a:rPr dirty="0" err="1"/>
              <a:t>courriers</a:t>
            </a:r>
            <a:r>
              <a:rPr dirty="0"/>
              <a:t>, </a:t>
            </a:r>
            <a:r>
              <a:rPr dirty="0" err="1"/>
              <a:t>chèques</a:t>
            </a:r>
            <a:r>
              <a:rPr dirty="0"/>
              <a:t>) </a:t>
            </a:r>
            <a:r>
              <a:rPr dirty="0" err="1"/>
              <a:t>reposent</a:t>
            </a:r>
            <a:r>
              <a:rPr dirty="0"/>
              <a:t> sur des </a:t>
            </a:r>
            <a:r>
              <a:rPr dirty="0" err="1"/>
              <a:t>échanges</a:t>
            </a:r>
            <a:r>
              <a:rPr dirty="0"/>
              <a:t> </a:t>
            </a:r>
            <a:r>
              <a:rPr dirty="0" err="1"/>
              <a:t>informels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Conséquences</a:t>
            </a:r>
            <a:r>
              <a:rPr dirty="0"/>
              <a:t> : </a:t>
            </a:r>
            <a:r>
              <a:rPr dirty="0" err="1"/>
              <a:t>délais</a:t>
            </a:r>
            <a:r>
              <a:rPr dirty="0"/>
              <a:t> </a:t>
            </a:r>
            <a:r>
              <a:rPr dirty="0" err="1"/>
              <a:t>difficiles</a:t>
            </a:r>
            <a:r>
              <a:rPr dirty="0"/>
              <a:t> à </a:t>
            </a:r>
            <a:r>
              <a:rPr dirty="0" err="1"/>
              <a:t>suivre</a:t>
            </a:r>
            <a:r>
              <a:rPr dirty="0"/>
              <a:t>, </a:t>
            </a:r>
            <a:r>
              <a:rPr dirty="0" err="1"/>
              <a:t>risque</a:t>
            </a:r>
            <a:r>
              <a:rPr dirty="0"/>
              <a:t> de </a:t>
            </a:r>
            <a:r>
              <a:rPr dirty="0" err="1"/>
              <a:t>perte</a:t>
            </a:r>
            <a:r>
              <a:rPr dirty="0"/>
              <a:t> </a:t>
            </a:r>
            <a:r>
              <a:rPr dirty="0" err="1"/>
              <a:t>d'information</a:t>
            </a:r>
            <a:r>
              <a:rPr dirty="0"/>
              <a:t>, </a:t>
            </a:r>
            <a:r>
              <a:rPr dirty="0" err="1"/>
              <a:t>faible</a:t>
            </a:r>
            <a:r>
              <a:rPr dirty="0"/>
              <a:t> </a:t>
            </a:r>
            <a:r>
              <a:rPr dirty="0" err="1"/>
              <a:t>visibilité</a:t>
            </a:r>
            <a:r>
              <a:rPr dirty="0"/>
              <a:t> pour la Direction</a:t>
            </a:r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digitalisation</a:t>
            </a:r>
            <a:r>
              <a:rPr dirty="0"/>
              <a:t> vise à conserver le </a:t>
            </a:r>
            <a:r>
              <a:rPr dirty="0" err="1"/>
              <a:t>processus</a:t>
            </a:r>
            <a:r>
              <a:rPr dirty="0"/>
              <a:t> métier </a:t>
            </a:r>
            <a:r>
              <a:rPr dirty="0" err="1"/>
              <a:t>existant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le </a:t>
            </a:r>
            <a:r>
              <a:rPr dirty="0" err="1"/>
              <a:t>rendant</a:t>
            </a:r>
            <a:r>
              <a:rPr dirty="0"/>
              <a:t> </a:t>
            </a:r>
            <a:r>
              <a:rPr dirty="0" err="1"/>
              <a:t>traçable</a:t>
            </a:r>
            <a:r>
              <a:rPr dirty="0"/>
              <a:t> et </a:t>
            </a:r>
            <a:r>
              <a:rPr dirty="0" smtClean="0"/>
              <a:t>pilotable</a:t>
            </a:r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smtClean="0"/>
              <a:t>Le </a:t>
            </a:r>
            <a:r>
              <a:rPr dirty="0" err="1" smtClean="0"/>
              <a:t>projet</a:t>
            </a:r>
            <a:r>
              <a:rPr dirty="0" smtClean="0"/>
              <a:t> </a:t>
            </a:r>
            <a:r>
              <a:rPr dirty="0" err="1" smtClean="0"/>
              <a:t>s'inscrit</a:t>
            </a:r>
            <a:r>
              <a:rPr dirty="0" smtClean="0"/>
              <a:t> </a:t>
            </a:r>
            <a:r>
              <a:rPr dirty="0" err="1" smtClean="0"/>
              <a:t>dans</a:t>
            </a:r>
            <a:r>
              <a:rPr dirty="0" smtClean="0"/>
              <a:t> la </a:t>
            </a:r>
            <a:r>
              <a:rPr dirty="0" err="1" smtClean="0"/>
              <a:t>modernisation</a:t>
            </a:r>
            <a:r>
              <a:rPr dirty="0" smtClean="0"/>
              <a:t> </a:t>
            </a:r>
            <a:r>
              <a:rPr dirty="0" err="1" smtClean="0"/>
              <a:t>globale</a:t>
            </a:r>
            <a:r>
              <a:rPr dirty="0" smtClean="0"/>
              <a:t> de la GED ACSI à la Direction </a:t>
            </a:r>
            <a:r>
              <a:rPr dirty="0" err="1" smtClean="0"/>
              <a:t>Générale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2. Objectifs pour la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Savoir à tout moment </a:t>
            </a:r>
            <a:r>
              <a:rPr dirty="0" err="1"/>
              <a:t>où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courrier</a:t>
            </a:r>
            <a:r>
              <a:rPr dirty="0"/>
              <a:t> et qui </a:t>
            </a:r>
            <a:r>
              <a:rPr dirty="0" err="1"/>
              <a:t>doit</a:t>
            </a:r>
            <a:r>
              <a:rPr dirty="0"/>
              <a:t> </a:t>
            </a:r>
            <a:r>
              <a:rPr dirty="0" err="1"/>
              <a:t>agir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Réduire</a:t>
            </a:r>
            <a:r>
              <a:rPr dirty="0"/>
              <a:t> les retards grâce aux </a:t>
            </a:r>
            <a:r>
              <a:rPr dirty="0" err="1"/>
              <a:t>alertes</a:t>
            </a:r>
            <a:r>
              <a:rPr dirty="0"/>
              <a:t> et </a:t>
            </a:r>
            <a:r>
              <a:rPr dirty="0" err="1"/>
              <a:t>relances</a:t>
            </a:r>
            <a:r>
              <a:rPr dirty="0"/>
              <a:t> </a:t>
            </a:r>
            <a:r>
              <a:rPr dirty="0" err="1"/>
              <a:t>automatiques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Conserver </a:t>
            </a:r>
            <a:r>
              <a:rPr dirty="0" err="1"/>
              <a:t>l'équivalent</a:t>
            </a:r>
            <a:r>
              <a:rPr dirty="0"/>
              <a:t> </a:t>
            </a:r>
            <a:r>
              <a:rPr dirty="0" err="1"/>
              <a:t>numérique</a:t>
            </a:r>
            <a:r>
              <a:rPr dirty="0"/>
              <a:t> des </a:t>
            </a:r>
            <a:r>
              <a:rPr dirty="0" err="1"/>
              <a:t>registres</a:t>
            </a:r>
            <a:r>
              <a:rPr dirty="0"/>
              <a:t> </a:t>
            </a:r>
            <a:r>
              <a:rPr dirty="0" err="1"/>
              <a:t>officiels</a:t>
            </a:r>
            <a:r>
              <a:rPr dirty="0"/>
              <a:t> </a:t>
            </a:r>
            <a:r>
              <a:rPr dirty="0" err="1"/>
              <a:t>Arrivée</a:t>
            </a:r>
            <a:r>
              <a:rPr dirty="0"/>
              <a:t> / </a:t>
            </a:r>
            <a:r>
              <a:rPr dirty="0" err="1"/>
              <a:t>Départ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Sécuriser</a:t>
            </a:r>
            <a:r>
              <a:rPr dirty="0"/>
              <a:t> le circuit des factures : du dossier au </a:t>
            </a:r>
            <a:r>
              <a:rPr dirty="0" err="1"/>
              <a:t>chèque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à la </a:t>
            </a:r>
            <a:r>
              <a:rPr dirty="0" err="1"/>
              <a:t>clôture</a:t>
            </a:r>
            <a:r>
              <a:rPr dirty="0"/>
              <a:t> du </a:t>
            </a:r>
            <a:r>
              <a:rPr dirty="0" err="1"/>
              <a:t>paiement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Faciliter</a:t>
            </a:r>
            <a:r>
              <a:rPr dirty="0"/>
              <a:t> le travail du </a:t>
            </a:r>
            <a:r>
              <a:rPr dirty="0" err="1"/>
              <a:t>secrétariat</a:t>
            </a:r>
            <a:r>
              <a:rPr dirty="0"/>
              <a:t>, du </a:t>
            </a:r>
            <a:r>
              <a:rPr dirty="0" smtClean="0"/>
              <a:t>D</a:t>
            </a:r>
            <a:r>
              <a:rPr lang="fr-FR" dirty="0" err="1" smtClean="0"/>
              <a:t>irecteur</a:t>
            </a:r>
            <a:r>
              <a:rPr lang="fr-FR" dirty="0" smtClean="0"/>
              <a:t> </a:t>
            </a:r>
            <a:r>
              <a:rPr dirty="0" smtClean="0"/>
              <a:t>G</a:t>
            </a:r>
            <a:r>
              <a:rPr lang="fr-FR" dirty="0" err="1" smtClean="0"/>
              <a:t>énéral</a:t>
            </a:r>
            <a:r>
              <a:rPr dirty="0" smtClean="0"/>
              <a:t> </a:t>
            </a:r>
            <a:r>
              <a:rPr dirty="0"/>
              <a:t>et de </a:t>
            </a:r>
            <a:r>
              <a:rPr dirty="0" err="1" smtClean="0"/>
              <a:t>l'agen</a:t>
            </a:r>
            <a:r>
              <a:rPr lang="fr-FR" dirty="0" smtClean="0"/>
              <a:t>t</a:t>
            </a:r>
            <a:r>
              <a:rPr dirty="0" smtClean="0"/>
              <a:t> </a:t>
            </a:r>
            <a:r>
              <a:rPr dirty="0" err="1"/>
              <a:t>comptable</a:t>
            </a:r>
            <a:r>
              <a:rPr dirty="0"/>
              <a:t> sans changer </a:t>
            </a:r>
            <a:r>
              <a:rPr dirty="0" err="1"/>
              <a:t>leurs</a:t>
            </a:r>
            <a:r>
              <a:rPr dirty="0"/>
              <a:t> </a:t>
            </a:r>
            <a:r>
              <a:rPr dirty="0" err="1"/>
              <a:t>rôles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Préparer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extension progressive à </a:t>
            </a:r>
            <a:r>
              <a:rPr dirty="0" err="1"/>
              <a:t>d'autres</a:t>
            </a:r>
            <a:r>
              <a:rPr dirty="0"/>
              <a:t> services de </a:t>
            </a:r>
            <a:r>
              <a:rPr dirty="0" smtClean="0"/>
              <a:t>l'</a:t>
            </a:r>
            <a:r>
              <a:rPr lang="fr-FR" dirty="0" smtClean="0"/>
              <a:t>agence</a:t>
            </a:r>
            <a:br>
              <a:rPr lang="fr-FR" dirty="0" smtClean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3. La GED ACSI — une plateforme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Application web accessible aux agents </a:t>
            </a:r>
            <a:r>
              <a:rPr dirty="0" err="1"/>
              <a:t>habilités</a:t>
            </a:r>
            <a:r>
              <a:rPr dirty="0"/>
              <a:t> de la </a:t>
            </a:r>
            <a:r>
              <a:rPr dirty="0" smtClean="0"/>
              <a:t>D</a:t>
            </a:r>
            <a:r>
              <a:rPr lang="fr-FR" dirty="0" err="1" smtClean="0"/>
              <a:t>irection</a:t>
            </a:r>
            <a:r>
              <a:rPr lang="fr-FR" dirty="0" smtClean="0"/>
              <a:t> </a:t>
            </a:r>
            <a:r>
              <a:rPr dirty="0" smtClean="0"/>
              <a:t>G</a:t>
            </a:r>
            <a:r>
              <a:rPr lang="fr-FR" dirty="0" err="1" smtClean="0"/>
              <a:t>énérale</a:t>
            </a:r>
            <a:r>
              <a:rPr dirty="0" smtClean="0"/>
              <a:t> </a:t>
            </a:r>
            <a:r>
              <a:rPr dirty="0"/>
              <a:t>et services </a:t>
            </a:r>
            <a:r>
              <a:rPr dirty="0" err="1"/>
              <a:t>associés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Centralise</a:t>
            </a:r>
            <a:r>
              <a:rPr dirty="0"/>
              <a:t> documents, dossiers, </a:t>
            </a:r>
            <a:r>
              <a:rPr dirty="0" err="1"/>
              <a:t>recherche</a:t>
            </a:r>
            <a:r>
              <a:rPr dirty="0"/>
              <a:t> et administration des </a:t>
            </a:r>
            <a:r>
              <a:rPr dirty="0" err="1"/>
              <a:t>accès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rPr dirty="0"/>
              <a:t>Le module « </a:t>
            </a:r>
            <a:r>
              <a:rPr dirty="0" err="1"/>
              <a:t>Gestion</a:t>
            </a:r>
            <a:r>
              <a:rPr dirty="0"/>
              <a:t> des </a:t>
            </a:r>
            <a:r>
              <a:rPr dirty="0" err="1"/>
              <a:t>courriers</a:t>
            </a:r>
            <a:r>
              <a:rPr dirty="0"/>
              <a:t> » </a:t>
            </a:r>
            <a:r>
              <a:rPr dirty="0" err="1"/>
              <a:t>est</a:t>
            </a:r>
            <a:r>
              <a:rPr dirty="0"/>
              <a:t> le premier </a:t>
            </a:r>
            <a:r>
              <a:rPr dirty="0" err="1"/>
              <a:t>volet</a:t>
            </a:r>
            <a:r>
              <a:rPr dirty="0"/>
              <a:t> métier </a:t>
            </a:r>
            <a:r>
              <a:rPr dirty="0" err="1" smtClean="0"/>
              <a:t>prioritaire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4. Architecture de la solution — vue d'ensemble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4712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Calibri"/>
              </a:rPr>
              <a:t>Utilisateurs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— DG,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Secrétariat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, Directions, </a:t>
            </a:r>
            <a:r>
              <a:rPr sz="1300" b="1" dirty="0" err="1" smtClean="0">
                <a:solidFill>
                  <a:srgbClr val="FFFFFF"/>
                </a:solidFill>
                <a:latin typeface="Calibri"/>
              </a:rPr>
              <a:t>Agen</a:t>
            </a:r>
            <a:r>
              <a:rPr lang="fr-FR" sz="1300" b="1" dirty="0" smtClean="0">
                <a:solidFill>
                  <a:srgbClr val="FFFFFF"/>
                </a:solidFill>
                <a:latin typeface="Calibri"/>
              </a:rPr>
              <a:t>t</a:t>
            </a:r>
            <a:r>
              <a:rPr sz="13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 smtClean="0">
                <a:solidFill>
                  <a:srgbClr val="FFFFFF"/>
                </a:solidFill>
                <a:latin typeface="Calibri"/>
              </a:rPr>
              <a:t>comptable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080760" y="1737360"/>
            <a:ext cx="0" cy="22860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011680"/>
            <a:ext cx="11247120" cy="23317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/>
            <a:r>
              <a:rPr sz="1400" b="1">
                <a:solidFill>
                  <a:srgbClr val="067A45"/>
                </a:solidFill>
                <a:latin typeface="Calibri"/>
              </a:rPr>
              <a:t>PLATEFORME GED ACSI — accès web sécurisé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26060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67A45"/>
                </a:solidFill>
                <a:latin typeface="Calibri"/>
              </a:rPr>
              <a:t>Documents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Archivage &amp; partage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14600"/>
            <a:ext cx="26060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67A45"/>
                </a:solidFill>
                <a:latin typeface="Calibri"/>
              </a:rPr>
              <a:t>Dossiers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Classement &amp; métadonnées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26060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067A45"/>
                </a:solidFill>
                <a:latin typeface="Calibri"/>
              </a:rPr>
              <a:t>Recherche</a:t>
            </a:r>
            <a:endParaRPr sz="1100" b="1" dirty="0">
              <a:solidFill>
                <a:srgbClr val="067A45"/>
              </a:solidFill>
              <a:latin typeface="Calibri"/>
            </a:endParaRPr>
          </a:p>
          <a:p>
            <a:pPr algn="ctr"/>
            <a:r>
              <a:rPr sz="900" b="0" dirty="0" err="1">
                <a:solidFill>
                  <a:srgbClr val="334155"/>
                </a:solidFill>
                <a:latin typeface="Calibri"/>
              </a:rPr>
              <a:t>Retrouver</a:t>
            </a:r>
            <a:r>
              <a:rPr sz="9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334155"/>
                </a:solidFill>
                <a:latin typeface="Calibri"/>
              </a:rPr>
              <a:t>rapidement</a:t>
            </a:r>
            <a:endParaRPr sz="9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15400" y="2514600"/>
            <a:ext cx="260604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67A45"/>
                </a:solidFill>
                <a:latin typeface="Calibri"/>
              </a:rPr>
              <a:t>Administration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Utilisateurs &amp; paramètres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80"/>
            <a:ext cx="10332720" cy="594360"/>
          </a:xfrm>
          <a:prstGeom prst="round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MODULE GESTION DES COURRIERS — Registres  |  Circuits métier  |  Suivi paiements (FSP)  |  Notifications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343400"/>
            <a:ext cx="0" cy="22860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617720"/>
            <a:ext cx="11247120" cy="868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334155"/>
                </a:solidFill>
                <a:latin typeface="Calibri"/>
              </a:rPr>
              <a:t>Données</a:t>
            </a:r>
            <a:r>
              <a:rPr sz="1200" b="1" dirty="0">
                <a:solidFill>
                  <a:srgbClr val="334155"/>
                </a:solidFill>
                <a:latin typeface="Calibri"/>
              </a:rPr>
              <a:t> &amp; services — Base </a:t>
            </a:r>
            <a:r>
              <a:rPr sz="1200" b="1" dirty="0" err="1">
                <a:solidFill>
                  <a:srgbClr val="334155"/>
                </a:solidFill>
                <a:latin typeface="Calibri"/>
              </a:rPr>
              <a:t>sécurisée</a:t>
            </a:r>
            <a:r>
              <a:rPr sz="1200" b="1" dirty="0">
                <a:solidFill>
                  <a:srgbClr val="334155"/>
                </a:solidFill>
                <a:latin typeface="Calibri"/>
              </a:rPr>
              <a:t>  |  </a:t>
            </a:r>
            <a:r>
              <a:rPr sz="1200" b="1" dirty="0" err="1">
                <a:solidFill>
                  <a:srgbClr val="334155"/>
                </a:solidFill>
                <a:latin typeface="Calibri"/>
              </a:rPr>
              <a:t>Fichiers</a:t>
            </a:r>
            <a:r>
              <a:rPr sz="12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334155"/>
                </a:solidFill>
                <a:latin typeface="Calibri"/>
              </a:rPr>
              <a:t>numérisés</a:t>
            </a:r>
            <a:r>
              <a:rPr sz="1200" b="1" dirty="0">
                <a:solidFill>
                  <a:srgbClr val="334155"/>
                </a:solidFill>
                <a:latin typeface="Calibri"/>
              </a:rPr>
              <a:t>  |  E-mail &amp; </a:t>
            </a:r>
            <a:r>
              <a:rPr sz="1200" b="1" dirty="0" err="1">
                <a:solidFill>
                  <a:srgbClr val="334155"/>
                </a:solidFill>
                <a:latin typeface="Calibri"/>
              </a:rPr>
              <a:t>alertes</a:t>
            </a:r>
            <a:r>
              <a:rPr sz="1200" b="1" dirty="0">
                <a:solidFill>
                  <a:srgbClr val="334155"/>
                </a:solidFill>
                <a:latin typeface="Calibri"/>
              </a:rPr>
              <a:t>  |  Journal de </a:t>
            </a:r>
            <a:r>
              <a:rPr sz="1200" b="1" dirty="0" err="1">
                <a:solidFill>
                  <a:srgbClr val="334155"/>
                </a:solidFill>
                <a:latin typeface="Calibri"/>
              </a:rPr>
              <a:t>traçabilité</a:t>
            </a:r>
            <a:endParaRPr sz="1200" b="1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Flux courrier : Arrivée enregistrée → circuit métier (facture ou courrier général) → traitement → Départ signé → archivage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5. Module Gestion des courriers — ce qu'il apporte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Registre numérique Arrivée : numérotation, expéditeur, objet, lien vers la réponse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Registre numérique Départ : destinataire, date, pièces jointes, statut d'expédition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Circuits métier paramétrables : deux parcours natifs (factures et courriers généraux)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Suivi des paiements (FSP) : tableau automatique des factures et mises à disposition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Notifications par cloche et e-mail à chaque étape importante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Historique complet : qui a fait quoi, quand, avec quelles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6. Acteurs et responsabilités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Secrétariat</a:t>
            </a:r>
            <a:r>
              <a:rPr dirty="0"/>
              <a:t> DG — </a:t>
            </a:r>
            <a:r>
              <a:rPr dirty="0" err="1"/>
              <a:t>Enregistre</a:t>
            </a:r>
            <a:r>
              <a:rPr dirty="0"/>
              <a:t> les </a:t>
            </a:r>
            <a:r>
              <a:rPr dirty="0" err="1"/>
              <a:t>arrivées</a:t>
            </a:r>
            <a:r>
              <a:rPr dirty="0"/>
              <a:t>, </a:t>
            </a:r>
            <a:r>
              <a:rPr dirty="0" err="1"/>
              <a:t>pilote</a:t>
            </a:r>
            <a:r>
              <a:rPr dirty="0"/>
              <a:t> les </a:t>
            </a:r>
            <a:r>
              <a:rPr dirty="0" err="1"/>
              <a:t>registres</a:t>
            </a:r>
            <a:r>
              <a:rPr dirty="0"/>
              <a:t>, </a:t>
            </a:r>
            <a:r>
              <a:rPr dirty="0" err="1"/>
              <a:t>crée</a:t>
            </a:r>
            <a:r>
              <a:rPr dirty="0"/>
              <a:t> les </a:t>
            </a:r>
            <a:r>
              <a:rPr dirty="0" err="1"/>
              <a:t>départs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Directeur</a:t>
            </a:r>
            <a:r>
              <a:rPr dirty="0"/>
              <a:t> </a:t>
            </a:r>
            <a:r>
              <a:rPr dirty="0" err="1"/>
              <a:t>Général</a:t>
            </a:r>
            <a:r>
              <a:rPr dirty="0"/>
              <a:t> — Donne les instructions, </a:t>
            </a:r>
            <a:r>
              <a:rPr dirty="0" err="1"/>
              <a:t>valide</a:t>
            </a:r>
            <a:r>
              <a:rPr dirty="0"/>
              <a:t>, </a:t>
            </a:r>
            <a:r>
              <a:rPr dirty="0" err="1"/>
              <a:t>signe</a:t>
            </a:r>
            <a:r>
              <a:rPr dirty="0"/>
              <a:t> (</a:t>
            </a:r>
            <a:r>
              <a:rPr dirty="0" err="1"/>
              <a:t>courriers</a:t>
            </a:r>
            <a:r>
              <a:rPr dirty="0"/>
              <a:t> et </a:t>
            </a:r>
            <a:r>
              <a:rPr dirty="0" err="1"/>
              <a:t>chèques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Particulière</a:t>
            </a:r>
            <a:r>
              <a:rPr dirty="0"/>
              <a:t> du DG — </a:t>
            </a:r>
            <a:r>
              <a:rPr dirty="0" err="1"/>
              <a:t>Traite</a:t>
            </a:r>
            <a:r>
              <a:rPr dirty="0"/>
              <a:t> les dossiers, </a:t>
            </a:r>
            <a:r>
              <a:rPr dirty="0" err="1"/>
              <a:t>prépare</a:t>
            </a:r>
            <a:r>
              <a:rPr dirty="0"/>
              <a:t> les </a:t>
            </a:r>
            <a:r>
              <a:rPr dirty="0" err="1"/>
              <a:t>projets</a:t>
            </a:r>
            <a:r>
              <a:rPr dirty="0"/>
              <a:t> de </a:t>
            </a:r>
            <a:r>
              <a:rPr dirty="0" err="1"/>
              <a:t>réponse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Responsable</a:t>
            </a:r>
            <a:r>
              <a:rPr dirty="0"/>
              <a:t> dossiers </a:t>
            </a:r>
            <a:r>
              <a:rPr dirty="0" err="1"/>
              <a:t>prestataires</a:t>
            </a:r>
            <a:r>
              <a:rPr dirty="0"/>
              <a:t> — </a:t>
            </a:r>
            <a:r>
              <a:rPr dirty="0" err="1"/>
              <a:t>Traite</a:t>
            </a:r>
            <a:r>
              <a:rPr dirty="0"/>
              <a:t> les factures </a:t>
            </a:r>
            <a:r>
              <a:rPr dirty="0" err="1"/>
              <a:t>avant</a:t>
            </a:r>
            <a:r>
              <a:rPr dirty="0"/>
              <a:t> </a:t>
            </a:r>
            <a:r>
              <a:rPr dirty="0" err="1" smtClean="0"/>
              <a:t>l'agen</a:t>
            </a:r>
            <a:r>
              <a:rPr lang="fr-FR" dirty="0" smtClean="0"/>
              <a:t>t</a:t>
            </a:r>
            <a:r>
              <a:rPr dirty="0" smtClean="0"/>
              <a:t> </a:t>
            </a:r>
            <a:r>
              <a:rPr dirty="0" err="1"/>
              <a:t>comptable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 smtClean="0"/>
              <a:t>Agen</a:t>
            </a:r>
            <a:r>
              <a:rPr lang="fr-FR" dirty="0" smtClean="0"/>
              <a:t>t</a:t>
            </a:r>
            <a:r>
              <a:rPr dirty="0" smtClean="0"/>
              <a:t> </a:t>
            </a:r>
            <a:r>
              <a:rPr dirty="0" err="1"/>
              <a:t>comptable</a:t>
            </a:r>
            <a:r>
              <a:rPr dirty="0"/>
              <a:t> (AC) — </a:t>
            </a:r>
            <a:r>
              <a:rPr dirty="0" err="1"/>
              <a:t>Établit</a:t>
            </a:r>
            <a:r>
              <a:rPr dirty="0"/>
              <a:t> le </a:t>
            </a:r>
            <a:r>
              <a:rPr dirty="0" err="1"/>
              <a:t>chèque</a:t>
            </a:r>
            <a:r>
              <a:rPr dirty="0"/>
              <a:t>, </a:t>
            </a:r>
            <a:r>
              <a:rPr dirty="0" err="1"/>
              <a:t>gère</a:t>
            </a:r>
            <a:r>
              <a:rPr dirty="0"/>
              <a:t> </a:t>
            </a:r>
            <a:r>
              <a:rPr dirty="0" err="1"/>
              <a:t>caissiers</a:t>
            </a:r>
            <a:r>
              <a:rPr dirty="0"/>
              <a:t> et retour de </a:t>
            </a:r>
            <a:r>
              <a:rPr dirty="0" err="1"/>
              <a:t>caisse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Responsable</a:t>
            </a:r>
            <a:r>
              <a:rPr dirty="0"/>
              <a:t> </a:t>
            </a:r>
            <a:r>
              <a:rPr dirty="0" err="1"/>
              <a:t>suivi</a:t>
            </a:r>
            <a:r>
              <a:rPr dirty="0"/>
              <a:t> des </a:t>
            </a:r>
            <a:r>
              <a:rPr dirty="0" err="1"/>
              <a:t>dépenses</a:t>
            </a:r>
            <a:r>
              <a:rPr dirty="0"/>
              <a:t> — Suit les FSP et </a:t>
            </a:r>
            <a:r>
              <a:rPr dirty="0" err="1"/>
              <a:t>clôture</a:t>
            </a:r>
            <a:r>
              <a:rPr dirty="0"/>
              <a:t> après </a:t>
            </a:r>
            <a:r>
              <a:rPr dirty="0" err="1"/>
              <a:t>preuve</a:t>
            </a:r>
            <a:r>
              <a:rPr dirty="0"/>
              <a:t> de </a:t>
            </a:r>
            <a:r>
              <a:rPr dirty="0" err="1"/>
              <a:t>paiement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Directeurs</a:t>
            </a:r>
            <a:r>
              <a:rPr dirty="0"/>
              <a:t> de direction — </a:t>
            </a:r>
            <a:r>
              <a:rPr dirty="0" err="1"/>
              <a:t>Peuvent</a:t>
            </a:r>
            <a:r>
              <a:rPr dirty="0"/>
              <a:t> </a:t>
            </a:r>
            <a:r>
              <a:rPr dirty="0" err="1"/>
              <a:t>instruire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structure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destinataire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7. Parcours d'un courrier — vue simplifiée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7A45"/>
                </a:solidFill>
                <a:latin typeface="Calibri"/>
              </a:rPr>
              <a:t>Circuit A — Factures &amp; 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7A45"/>
                </a:solidFill>
                <a:latin typeface="Calibri"/>
              </a:rPr>
              <a:t>Circuit B — Courriers généraux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508760" cy="8686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Enregistrement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Arrivée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325880"/>
            <a:ext cx="1508760" cy="8686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Instruction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DG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1764792"/>
            <a:ext cx="320040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1325880"/>
            <a:ext cx="1508760" cy="8686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Traitement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dossier / AC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79" y="1764792"/>
            <a:ext cx="320041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89320" y="1325880"/>
            <a:ext cx="1508760" cy="8686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Chèque &amp;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FSP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79" y="1764792"/>
            <a:ext cx="320041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18120" y="1325880"/>
            <a:ext cx="1508760" cy="8686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Clôture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paiement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1764792"/>
            <a:ext cx="320041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611880"/>
            <a:ext cx="150876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Enregistrement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Arrivée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3611880"/>
            <a:ext cx="150876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Instruction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DG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4050791"/>
            <a:ext cx="320040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60520" y="3611880"/>
            <a:ext cx="150876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Projet de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réponse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79" y="4050791"/>
            <a:ext cx="320041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89320" y="3611880"/>
            <a:ext cx="150876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Validation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&amp; Départ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050791"/>
            <a:ext cx="320041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18120" y="3611880"/>
            <a:ext cx="150876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0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7A45"/>
                </a:solidFill>
                <a:latin typeface="Calibri"/>
              </a:rPr>
              <a:t>Expédition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&amp; archivage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4050791"/>
            <a:ext cx="320041" cy="0"/>
          </a:xfrm>
          <a:prstGeom prst="line">
            <a:avLst/>
          </a:prstGeom>
          <a:ln w="31750">
            <a:solidFill>
              <a:srgbClr val="06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4892040"/>
            <a:ext cx="11155680" cy="1417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300" b="1">
                <a:solidFill>
                  <a:srgbClr val="067A45"/>
                </a:solidFill>
                <a:latin typeface="Calibri"/>
              </a:rPr>
              <a:t>À chaque étape : responsable identifié, délai suivi, notification automatique, historique conservé.</a:t>
            </a:r>
          </a:p>
          <a:p>
            <a:r>
              <a:rPr sz="1200" b="0">
                <a:solidFill>
                  <a:srgbClr val="334155"/>
                </a:solidFill>
                <a:latin typeface="Calibri"/>
              </a:rPr>
              <a:t>Le DG et le secrétariat disposent d'une vision en temps réel de l'avancement de chaque dossier.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8. Les deux circuits métier en détail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577840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055"/>
                </a:solidFill>
                <a:latin typeface="Calibri"/>
              </a:rPr>
              <a:t>Circuit A — Factures &amp; MAD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Factures prestataires et mises à disposition (MAD)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Étape 1 : enregistrement → instruction DG → traitement dossier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Étape 2 : l'AC établit le chèque (montant obligatoire) → signature DG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Création automatique de la ligne FSP + alerte responsable dépenses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Relais automatiques vers caissiers et retour de caisse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Clôture après dépôt de la preuve de paiement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577840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055"/>
                </a:solidFill>
                <a:latin typeface="Calibri"/>
              </a:rPr>
              <a:t>Circuit B — Courriers généraux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Courriers administratifs, invitations, demandes, notes…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Enregistrement → instruction DG → projet de réponse (particulière)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Validation DG → création du courrier de départ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Signature, expédition, réception par le secrétariat destinataire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Variantes : réponse directe du DG, rejet du projet, instruction par directeur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Archivage une fois le cycle terminé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9. Suivi des paiements (FSP) — pilotage financier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Écran</a:t>
            </a:r>
            <a:r>
              <a:rPr dirty="0"/>
              <a:t> </a:t>
            </a:r>
            <a:r>
              <a:rPr dirty="0" err="1"/>
              <a:t>dédié</a:t>
            </a:r>
            <a:r>
              <a:rPr dirty="0"/>
              <a:t> « </a:t>
            </a:r>
            <a:r>
              <a:rPr dirty="0" err="1"/>
              <a:t>Suivi</a:t>
            </a:r>
            <a:r>
              <a:rPr dirty="0"/>
              <a:t> des </a:t>
            </a:r>
            <a:r>
              <a:rPr dirty="0" err="1"/>
              <a:t>paiements</a:t>
            </a:r>
            <a:r>
              <a:rPr dirty="0"/>
              <a:t> » </a:t>
            </a:r>
            <a:r>
              <a:rPr dirty="0" err="1"/>
              <a:t>dans</a:t>
            </a:r>
            <a:r>
              <a:rPr dirty="0"/>
              <a:t> le menu GED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Deux</a:t>
            </a:r>
            <a:r>
              <a:rPr dirty="0"/>
              <a:t> tableaux : FSP FACTURE (</a:t>
            </a:r>
            <a:r>
              <a:rPr dirty="0" err="1"/>
              <a:t>prestataires</a:t>
            </a:r>
            <a:r>
              <a:rPr dirty="0"/>
              <a:t>) et FSP MAD (</a:t>
            </a:r>
            <a:r>
              <a:rPr dirty="0" err="1"/>
              <a:t>mises</a:t>
            </a:r>
            <a:r>
              <a:rPr dirty="0"/>
              <a:t> à disposition)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/>
              <a:t>Alimentation </a:t>
            </a:r>
            <a:r>
              <a:rPr dirty="0" err="1"/>
              <a:t>automatique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l'envoi</a:t>
            </a:r>
            <a:r>
              <a:rPr dirty="0"/>
              <a:t> du </a:t>
            </a:r>
            <a:r>
              <a:rPr dirty="0" err="1"/>
              <a:t>chèque</a:t>
            </a:r>
            <a:r>
              <a:rPr dirty="0"/>
              <a:t> au DG (</a:t>
            </a:r>
            <a:r>
              <a:rPr dirty="0" err="1"/>
              <a:t>aucune</a:t>
            </a:r>
            <a:r>
              <a:rPr dirty="0"/>
              <a:t> </a:t>
            </a:r>
            <a:r>
              <a:rPr dirty="0" err="1"/>
              <a:t>ressaisie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smtClean="0"/>
              <a:t>Export </a:t>
            </a:r>
            <a:r>
              <a:rPr dirty="0"/>
              <a:t>Excel pour </a:t>
            </a:r>
            <a:r>
              <a:rPr dirty="0" err="1"/>
              <a:t>contrôle</a:t>
            </a:r>
            <a:r>
              <a:rPr dirty="0"/>
              <a:t>, reporting et </a:t>
            </a:r>
            <a:r>
              <a:rPr dirty="0" err="1"/>
              <a:t>archivage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Responsable</a:t>
            </a:r>
            <a:r>
              <a:rPr dirty="0"/>
              <a:t> </a:t>
            </a:r>
            <a:r>
              <a:rPr dirty="0" err="1"/>
              <a:t>suivi</a:t>
            </a:r>
            <a:r>
              <a:rPr dirty="0"/>
              <a:t> des </a:t>
            </a:r>
            <a:r>
              <a:rPr dirty="0" err="1"/>
              <a:t>dépenses</a:t>
            </a:r>
            <a:r>
              <a:rPr dirty="0"/>
              <a:t> </a:t>
            </a:r>
            <a:r>
              <a:rPr dirty="0" err="1"/>
              <a:t>notifiée</a:t>
            </a:r>
            <a:r>
              <a:rPr dirty="0"/>
              <a:t> à </a:t>
            </a:r>
            <a:r>
              <a:rPr dirty="0" err="1"/>
              <a:t>l'entrée</a:t>
            </a:r>
            <a:r>
              <a:rPr dirty="0"/>
              <a:t> </a:t>
            </a:r>
            <a:r>
              <a:rPr dirty="0" err="1"/>
              <a:t>chèque</a:t>
            </a:r>
            <a:r>
              <a:rPr dirty="0"/>
              <a:t>, </a:t>
            </a:r>
            <a:r>
              <a:rPr dirty="0" err="1"/>
              <a:t>clôture</a:t>
            </a:r>
            <a:r>
              <a:rPr dirty="0"/>
              <a:t> à la </a:t>
            </a:r>
            <a:r>
              <a:rPr dirty="0" err="1"/>
              <a:t>preuve</a:t>
            </a:r>
            <a:r>
              <a:rPr dirty="0"/>
              <a:t> </a:t>
            </a:r>
            <a:r>
              <a:rPr dirty="0" err="1"/>
              <a:t>paiement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10. Registres numériques — continuité avec le papier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577840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055"/>
                </a:solidFill>
                <a:latin typeface="Calibri"/>
              </a:rPr>
              <a:t>Registre Arrivée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Reproduit les colonnes du registre papier officiel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Date et numéro d'arrivée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Expéditeur et objet du courrier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Lien automatique vers le courrier de réponse (départ)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Impression et export pour archivage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577840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055"/>
                </a:solidFill>
                <a:latin typeface="Calibri"/>
              </a:rPr>
              <a:t>Registre Départ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Numéro d'ordre et date de départ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Destinataire, objet, nombre de pièces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Numéro d'archives et observations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Statut : brouillon, signé, expédié, reçu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Traçabilité de bout en bout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11. Alertes et suivi des délais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Chaque acteur est alerté lorsqu'un courrier arrive à son étape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Cloche dans l'application + e-mail (expéditeur « GED ACSI »)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Alerte retard si une étape dépasse le délai configuré (48 h par défaut)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Possibilité de relancer le responsable en retard (hors tour du DG)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Entrée chèque : notification immédiate au responsable suivi des dépenses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Courriers confidentiels : diffusion restreinte aux seuls acteurs concernés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12. Sécurité et gouvernance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Accès</a:t>
            </a:r>
            <a:r>
              <a:rPr dirty="0"/>
              <a:t> par </a:t>
            </a:r>
            <a:r>
              <a:rPr dirty="0" err="1"/>
              <a:t>compte</a:t>
            </a:r>
            <a:r>
              <a:rPr dirty="0"/>
              <a:t> personnel — </a:t>
            </a:r>
            <a:r>
              <a:rPr dirty="0" err="1"/>
              <a:t>chaque</a:t>
            </a:r>
            <a:r>
              <a:rPr dirty="0"/>
              <a:t> </a:t>
            </a:r>
            <a:r>
              <a:rPr lang="fr-FR" dirty="0" smtClean="0"/>
              <a:t>utilisateur</a:t>
            </a:r>
            <a:r>
              <a:rPr dirty="0" smtClean="0"/>
              <a:t> </a:t>
            </a:r>
            <a:r>
              <a:rPr dirty="0"/>
              <a:t>ne </a:t>
            </a:r>
            <a:r>
              <a:rPr dirty="0" err="1"/>
              <a:t>voit</a:t>
            </a:r>
            <a:r>
              <a:rPr dirty="0"/>
              <a:t> que </a:t>
            </a:r>
            <a:r>
              <a:rPr dirty="0" err="1"/>
              <a:t>ce</a:t>
            </a:r>
            <a:r>
              <a:rPr dirty="0"/>
              <a:t> qui le </a:t>
            </a:r>
            <a:r>
              <a:rPr dirty="0" err="1"/>
              <a:t>concerne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Rôles</a:t>
            </a:r>
            <a:r>
              <a:rPr dirty="0"/>
              <a:t> métier : DG, </a:t>
            </a:r>
            <a:r>
              <a:rPr dirty="0" err="1"/>
              <a:t>secrétariat</a:t>
            </a:r>
            <a:r>
              <a:rPr dirty="0"/>
              <a:t>, AC, </a:t>
            </a:r>
            <a:r>
              <a:rPr dirty="0" err="1"/>
              <a:t>responsable</a:t>
            </a:r>
            <a:r>
              <a:rPr dirty="0"/>
              <a:t> </a:t>
            </a:r>
            <a:r>
              <a:rPr dirty="0" err="1"/>
              <a:t>dépenses</a:t>
            </a:r>
            <a:r>
              <a:rPr dirty="0"/>
              <a:t>, </a:t>
            </a:r>
            <a:r>
              <a:rPr dirty="0" err="1"/>
              <a:t>directeurs</a:t>
            </a:r>
            <a:r>
              <a:rPr dirty="0"/>
              <a:t>…</a:t>
            </a:r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Courriers</a:t>
            </a:r>
            <a:r>
              <a:rPr dirty="0"/>
              <a:t> </a:t>
            </a:r>
            <a:r>
              <a:rPr dirty="0" err="1"/>
              <a:t>confidentiels</a:t>
            </a:r>
            <a:r>
              <a:rPr dirty="0"/>
              <a:t> : </a:t>
            </a:r>
            <a:r>
              <a:rPr dirty="0" err="1"/>
              <a:t>visibilité</a:t>
            </a:r>
            <a:r>
              <a:rPr dirty="0"/>
              <a:t> </a:t>
            </a:r>
            <a:r>
              <a:rPr dirty="0" err="1"/>
              <a:t>limitée</a:t>
            </a:r>
            <a:r>
              <a:rPr dirty="0"/>
              <a:t>, pas de notification </a:t>
            </a:r>
            <a:r>
              <a:rPr dirty="0" err="1"/>
              <a:t>généralisée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/>
              <a:t>Journal </a:t>
            </a:r>
            <a:r>
              <a:rPr dirty="0" err="1"/>
              <a:t>d'audit</a:t>
            </a:r>
            <a:r>
              <a:rPr dirty="0"/>
              <a:t> : actions </a:t>
            </a:r>
            <a:r>
              <a:rPr dirty="0" err="1"/>
              <a:t>sensibles</a:t>
            </a:r>
            <a:r>
              <a:rPr dirty="0"/>
              <a:t> </a:t>
            </a:r>
            <a:r>
              <a:rPr dirty="0" err="1"/>
              <a:t>enregistrées</a:t>
            </a:r>
            <a:r>
              <a:rPr dirty="0"/>
              <a:t> pour </a:t>
            </a:r>
            <a:r>
              <a:rPr dirty="0" err="1"/>
              <a:t>contrôle</a:t>
            </a:r>
            <a:r>
              <a:rPr dirty="0"/>
              <a:t> </a:t>
            </a:r>
            <a:r>
              <a:rPr dirty="0" err="1"/>
              <a:t>ultérieur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Authentification</a:t>
            </a:r>
            <a:r>
              <a:rPr dirty="0"/>
              <a:t> </a:t>
            </a:r>
            <a:r>
              <a:rPr dirty="0" err="1"/>
              <a:t>renforcée</a:t>
            </a:r>
            <a:r>
              <a:rPr dirty="0"/>
              <a:t> </a:t>
            </a:r>
            <a:r>
              <a:rPr dirty="0" err="1"/>
              <a:t>disponible</a:t>
            </a:r>
            <a:r>
              <a:rPr dirty="0"/>
              <a:t> (double </a:t>
            </a:r>
            <a:r>
              <a:rPr dirty="0" err="1"/>
              <a:t>facteur</a:t>
            </a:r>
            <a:r>
              <a:rPr dirty="0"/>
              <a:t>) pour les </a:t>
            </a:r>
            <a:r>
              <a:rPr dirty="0" err="1"/>
              <a:t>comptes</a:t>
            </a:r>
            <a:r>
              <a:rPr dirty="0"/>
              <a:t> </a:t>
            </a:r>
            <a:r>
              <a:rPr dirty="0" err="1" smtClean="0"/>
              <a:t>sensibles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GED ACSI  |  Présentation Direction  |  Digitalisation des courriers DG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13. Bénéfices concrets pour la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Visibilité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temps </a:t>
            </a:r>
            <a:r>
              <a:rPr dirty="0" err="1"/>
              <a:t>réel</a:t>
            </a:r>
            <a:r>
              <a:rPr dirty="0"/>
              <a:t> : plus de « </a:t>
            </a:r>
            <a:r>
              <a:rPr dirty="0" err="1"/>
              <a:t>où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dossier ? » sans </a:t>
            </a:r>
            <a:r>
              <a:rPr dirty="0" err="1"/>
              <a:t>réponse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Responsabilisation</a:t>
            </a:r>
            <a:r>
              <a:rPr dirty="0"/>
              <a:t> :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étape</a:t>
            </a:r>
            <a:r>
              <a:rPr dirty="0"/>
              <a:t> a un </a:t>
            </a:r>
            <a:r>
              <a:rPr dirty="0" err="1"/>
              <a:t>acteur</a:t>
            </a:r>
            <a:r>
              <a:rPr dirty="0"/>
              <a:t> </a:t>
            </a:r>
            <a:r>
              <a:rPr dirty="0" err="1"/>
              <a:t>identifié</a:t>
            </a:r>
            <a:r>
              <a:rPr dirty="0"/>
              <a:t> et </a:t>
            </a:r>
            <a:r>
              <a:rPr dirty="0" err="1"/>
              <a:t>daté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/>
              <a:t>Gain de temps </a:t>
            </a:r>
            <a:r>
              <a:rPr dirty="0" err="1"/>
              <a:t>secrétariat</a:t>
            </a:r>
            <a:r>
              <a:rPr dirty="0"/>
              <a:t> : </a:t>
            </a:r>
            <a:r>
              <a:rPr dirty="0" err="1"/>
              <a:t>moins</a:t>
            </a:r>
            <a:r>
              <a:rPr dirty="0"/>
              <a:t> de </a:t>
            </a:r>
            <a:r>
              <a:rPr dirty="0" err="1"/>
              <a:t>relances</a:t>
            </a:r>
            <a:r>
              <a:rPr dirty="0"/>
              <a:t> </a:t>
            </a:r>
            <a:r>
              <a:rPr dirty="0" err="1"/>
              <a:t>manuelles</a:t>
            </a:r>
            <a:r>
              <a:rPr dirty="0"/>
              <a:t>, </a:t>
            </a:r>
            <a:r>
              <a:rPr dirty="0" err="1"/>
              <a:t>registres</a:t>
            </a:r>
            <a:r>
              <a:rPr dirty="0"/>
              <a:t> auto-</a:t>
            </a:r>
            <a:r>
              <a:rPr dirty="0" err="1"/>
              <a:t>alimentés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Maîtrise</a:t>
            </a:r>
            <a:r>
              <a:rPr dirty="0"/>
              <a:t> des </a:t>
            </a:r>
            <a:r>
              <a:rPr dirty="0" err="1"/>
              <a:t>dépenses</a:t>
            </a:r>
            <a:r>
              <a:rPr dirty="0"/>
              <a:t> : FSP </a:t>
            </a:r>
            <a:r>
              <a:rPr dirty="0" err="1"/>
              <a:t>synchronisé</a:t>
            </a:r>
            <a:r>
              <a:rPr dirty="0"/>
              <a:t> avec le circuit facture/</a:t>
            </a:r>
            <a:r>
              <a:rPr dirty="0" err="1"/>
              <a:t>chèque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Conformité</a:t>
            </a:r>
            <a:r>
              <a:rPr dirty="0"/>
              <a:t> : </a:t>
            </a:r>
            <a:r>
              <a:rPr dirty="0" err="1"/>
              <a:t>registres</a:t>
            </a:r>
            <a:r>
              <a:rPr dirty="0"/>
              <a:t> </a:t>
            </a:r>
            <a:r>
              <a:rPr dirty="0" err="1"/>
              <a:t>numériques</a:t>
            </a:r>
            <a:r>
              <a:rPr dirty="0"/>
              <a:t> </a:t>
            </a:r>
            <a:r>
              <a:rPr dirty="0" err="1"/>
              <a:t>alignés</a:t>
            </a:r>
            <a:r>
              <a:rPr dirty="0"/>
              <a:t> sur les </a:t>
            </a:r>
            <a:r>
              <a:rPr dirty="0" err="1"/>
              <a:t>registres</a:t>
            </a:r>
            <a:r>
              <a:rPr dirty="0"/>
              <a:t> </a:t>
            </a:r>
            <a:r>
              <a:rPr dirty="0" err="1"/>
              <a:t>papier</a:t>
            </a:r>
            <a:r>
              <a:rPr dirty="0"/>
              <a:t> </a:t>
            </a:r>
            <a:r>
              <a:rPr dirty="0" err="1" smtClean="0"/>
              <a:t>existants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A055"/>
                </a:solidFill>
                <a:latin typeface="Calibri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Une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solution GED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intégrée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pour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moderniser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la </a:t>
            </a:r>
            <a:r>
              <a:rPr sz="2800" b="1" dirty="0" smtClean="0">
                <a:solidFill>
                  <a:srgbClr val="FFFFFF"/>
                </a:solidFill>
                <a:latin typeface="Calibri"/>
              </a:rPr>
              <a:t>D</a:t>
            </a:r>
            <a:r>
              <a:rPr lang="fr-FR" sz="2800" b="1" dirty="0" err="1" smtClean="0">
                <a:solidFill>
                  <a:srgbClr val="FFFFFF"/>
                </a:solidFill>
                <a:latin typeface="Calibri"/>
              </a:rPr>
              <a:t>irection</a:t>
            </a:r>
            <a:r>
              <a:rPr lang="fr-FR" sz="28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smtClean="0">
                <a:solidFill>
                  <a:srgbClr val="FFFFFF"/>
                </a:solidFill>
                <a:latin typeface="Calibri"/>
              </a:rPr>
              <a:t>G</a:t>
            </a:r>
            <a:r>
              <a:rPr lang="fr-FR" sz="2800" b="1" dirty="0" err="1" smtClean="0">
                <a:solidFill>
                  <a:srgbClr val="FFFFFF"/>
                </a:solidFill>
                <a:latin typeface="Calibri"/>
              </a:rPr>
              <a:t>énérale</a:t>
            </a:r>
            <a:endParaRPr sz="2800" b="1" dirty="0">
              <a:solidFill>
                <a:srgbClr val="FFFFFF"/>
              </a:solidFill>
              <a:latin typeface="Calibri"/>
            </a:endParaRPr>
          </a:p>
          <a:p>
            <a:r>
              <a:rPr sz="1800" b="0" dirty="0" err="1">
                <a:solidFill>
                  <a:srgbClr val="CBD5E1"/>
                </a:solidFill>
                <a:latin typeface="Calibri"/>
              </a:rPr>
              <a:t>Registres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numériques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· Circuits métier ·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Suivi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0" dirty="0" smtClean="0">
                <a:solidFill>
                  <a:srgbClr val="CBD5E1"/>
                </a:solidFill>
                <a:latin typeface="Calibri"/>
              </a:rPr>
              <a:t>FSP</a:t>
            </a:r>
            <a:r>
              <a:rPr lang="fr-FR" sz="1800" b="0" dirty="0" smtClean="0">
                <a:solidFill>
                  <a:srgbClr val="CBD5E1"/>
                </a:solidFill>
                <a:latin typeface="Calibri"/>
              </a:rPr>
              <a:t>(fiche de suivi de paiement)</a:t>
            </a:r>
            <a:r>
              <a:rPr sz="1800" b="0" dirty="0" smtClean="0">
                <a:solidFill>
                  <a:srgbClr val="CBD5E1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·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Alertes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automatiques</a:t>
            </a:r>
            <a:endParaRPr sz="1800" b="0" dirty="0">
              <a:solidFill>
                <a:srgbClr val="CBD5E1"/>
              </a:solidFill>
              <a:latin typeface="Calibri"/>
            </a:endParaRPr>
          </a:p>
          <a:p>
            <a:r>
              <a:rPr sz="1800" b="0" dirty="0">
                <a:solidFill>
                  <a:srgbClr val="CBD5E1"/>
                </a:solidFill>
                <a:latin typeface="Calibri"/>
              </a:rPr>
              <a:t>Le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processus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métier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est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préservé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— la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traçabilité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et le pilotage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sont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renforcés</a:t>
            </a:r>
            <a:endParaRPr sz="1800" b="0" dirty="0">
              <a:solidFill>
                <a:srgbClr val="CBD5E1"/>
              </a:solidFill>
              <a:latin typeface="Calibri"/>
            </a:endParaRPr>
          </a:p>
          <a:p>
            <a:endParaRPr sz="1800" b="0" dirty="0">
              <a:solidFill>
                <a:srgbClr val="CBD5E1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748695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180" y="2868989"/>
            <a:ext cx="10515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FFFF"/>
                </a:solidFill>
                <a:latin typeface="Calibri"/>
              </a:rPr>
              <a:t>DEMO</a:t>
            </a:r>
            <a:endParaRPr sz="1800" b="0" dirty="0">
              <a:solidFill>
                <a:srgbClr val="CBD5E1"/>
              </a:solidFill>
              <a:latin typeface="Calibri"/>
            </a:endParaRPr>
          </a:p>
          <a:p>
            <a:pPr algn="ctr"/>
            <a:endParaRPr sz="1800" b="0" dirty="0">
              <a:solidFill>
                <a:srgbClr val="CBD5E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27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1267</Words>
  <Application>Microsoft Office PowerPoint</Application>
  <PresentationFormat>Grand écran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hp</cp:lastModifiedBy>
  <cp:revision>14</cp:revision>
  <dcterms:created xsi:type="dcterms:W3CDTF">2013-01-27T09:14:16Z</dcterms:created>
  <dcterms:modified xsi:type="dcterms:W3CDTF">2026-07-28T09:30:03Z</dcterms:modified>
  <cp:category/>
</cp:coreProperties>
</file>