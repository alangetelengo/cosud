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 i="0">
                <a:solidFill>
                  <a:srgbClr val="06A269"/>
                </a:solidFill>
                <a:latin typeface="Calibri"/>
              </a:rPr>
              <a:t>COSUD</a:t>
            </a:r>
          </a:p>
          <a:p>
            <a:pPr>
              <a:spcBef>
                <a:spcPts val="1200"/>
              </a:spcBef>
            </a:pPr>
            <a:r>
              <a:rPr sz="3600" b="1" i="0">
                <a:solidFill>
                  <a:srgbClr val="FFFFFF"/>
                </a:solidFill>
                <a:latin typeface="Calibri"/>
              </a:rPr>
              <a:t>Guide utilisateur — Caissier</a:t>
            </a:r>
          </a:p>
          <a:p>
            <a:pPr>
              <a:spcBef>
                <a:spcPts val="1800"/>
              </a:spcBef>
            </a:pPr>
            <a:r>
              <a:rPr sz="1800" b="0" i="0">
                <a:solidFill>
                  <a:srgbClr val="F1F5F9"/>
                </a:solidFill>
                <a:latin typeface="Calibri"/>
              </a:rPr>
              <a:t>Participer au flux courriers / dépenses et aux transmissions selon les étapes assignées.</a:t>
            </a:r>
          </a:p>
          <a:p>
            <a:pPr>
              <a:spcBef>
                <a:spcPts val="2400"/>
              </a:spcBef>
            </a:pPr>
            <a:r>
              <a:rPr sz="1400" b="0" i="1">
                <a:solidFill>
                  <a:srgbClr val="475569"/>
                </a:solidFill>
                <a:latin typeface="Calibri"/>
              </a:rPr>
              <a:t>Guide permanent de l’application (droits et parcours métier)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A2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82880"/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Périmètre &amp; menus</a:t>
            </a:r>
          </a:p>
          <a:p>
            <a:r>
              <a:rPr sz="1400" b="0" i="0">
                <a:solidFill>
                  <a:srgbClr val="FFFFFF"/>
                </a:solidFill>
                <a:latin typeface="Calibri"/>
              </a:rPr>
              <a:t>Caissier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 i="0">
                <a:solidFill>
                  <a:srgbClr val="0F172A"/>
                </a:solidFill>
                <a:latin typeface="Calibri"/>
              </a:rPr>
              <a:t>•  Menus : Courriers (factures + MAD), Bordereau de transmission, Documents, Dossiers.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0F172A"/>
                </a:solidFill>
                <a:latin typeface="Calibri"/>
              </a:rPr>
              <a:t>•  Droits proches du secrétariat courrier + vue factures et MAD.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0F172A"/>
                </a:solidFill>
                <a:latin typeface="Calibri"/>
              </a:rPr>
              <a:t>•  Intervient lorsque le circuit ou la procédure de caisse le sollicite.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i="1">
                <a:solidFill>
                  <a:srgbClr val="475569"/>
                </a:solidFill>
                <a:latin typeface="Calibri"/>
              </a:rPr>
              <a:t>COSUD — ACSI | Guide permanent — Caissier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A2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82880"/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Travail quotidien</a:t>
            </a:r>
          </a:p>
          <a:p>
            <a:r>
              <a:rPr sz="1400" b="0" i="0">
                <a:solidFill>
                  <a:srgbClr val="FFFFFF"/>
                </a:solidFill>
                <a:latin typeface="Calibri"/>
              </a:rPr>
              <a:t>Caissier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 i="0">
                <a:solidFill>
                  <a:srgbClr val="0F172A"/>
                </a:solidFill>
                <a:latin typeface="Calibri"/>
              </a:rPr>
              <a:t>•  Consulter la cloche et la liste Courriers pour les dossiers à traiter.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0F172A"/>
                </a:solidFill>
                <a:latin typeface="Calibri"/>
              </a:rPr>
              <a:t>•  Vérifier montants et pièces avant toute opération de caisse liée au dossier.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0F172A"/>
                </a:solidFill>
                <a:latin typeface="Calibri"/>
              </a:rPr>
              <a:t>•  Utiliser le bordereau de transmission pour les envois documentés.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0F172A"/>
                </a:solidFill>
                <a:latin typeface="Calibri"/>
              </a:rPr>
              <a:t>•  Ne pas avancer une étape réservée à un autre rôle (DG, AC) sans le bon compte.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i="1">
                <a:solidFill>
                  <a:srgbClr val="475569"/>
                </a:solidFill>
                <a:latin typeface="Calibri"/>
              </a:rPr>
              <a:t>COSUD — ACSI | Guide permanent — Caissier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A2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82880"/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Points d’attention</a:t>
            </a:r>
          </a:p>
          <a:p>
            <a:r>
              <a:rPr sz="1400" b="0" i="0">
                <a:solidFill>
                  <a:srgbClr val="FFFFFF"/>
                </a:solidFill>
                <a:latin typeface="Calibri"/>
              </a:rPr>
              <a:t>Caissier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 i="0">
                <a:solidFill>
                  <a:srgbClr val="0F172A"/>
                </a:solidFill>
                <a:latin typeface="Calibri"/>
              </a:rPr>
              <a:t>•  Les paiements formalisés « suivi de dépense » relèvent surtout du responsable suivi des dépenses.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0F172A"/>
                </a:solidFill>
                <a:latin typeface="Calibri"/>
              </a:rPr>
              <a:t>•  En cas de doute sur l’étape affichée, ouvrir la fiche et lire l’aide de l’étape / l’historique.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i="1">
                <a:solidFill>
                  <a:srgbClr val="475569"/>
                </a:solidFill>
                <a:latin typeface="Calibri"/>
              </a:rPr>
              <a:t>COSUD — ACSI | Guide permanent — Caissier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560320"/>
            <a:ext cx="10515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 i="0">
                <a:solidFill>
                  <a:srgbClr val="FFFFFF"/>
                </a:solidFill>
                <a:latin typeface="Calibri"/>
              </a:rPr>
              <a:t>Fin du guide</a:t>
            </a:r>
          </a:p>
          <a:p>
            <a:pPr>
              <a:spcBef>
                <a:spcPts val="1600"/>
              </a:spcBef>
            </a:pPr>
            <a:r>
              <a:rPr sz="1800" b="0" i="0">
                <a:solidFill>
                  <a:srgbClr val="06A269"/>
                </a:solidFill>
                <a:latin typeface="Calibri"/>
              </a:rPr>
              <a:t>Caissier — COSUD / ACSI</a:t>
            </a:r>
          </a:p>
          <a:p>
            <a:pPr>
              <a:spcBef>
                <a:spcPts val="2000"/>
              </a:spcBef>
            </a:pPr>
            <a:r>
              <a:rPr sz="1400" b="0" i="1">
                <a:solidFill>
                  <a:srgbClr val="F1F5F9"/>
                </a:solidFill>
                <a:latin typeface="Calibri"/>
              </a:rPr>
              <a:t>Pour toute évolution de droits, s’adresser à l’administrateur COSUD.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